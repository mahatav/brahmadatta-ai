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11569903" cy="62362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8503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8503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34495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34495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0799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6692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0" lang="en-GB" spc="140" cap="all">
                <a:solidFill>
                  <a:srgbClr val="9FA1C9"/>
                </a:solidFill>
                <a:latin typeface="Consolas"/>
              </a:rPr>
              <a:t>[ Slide 01 / 05 ]   Introduction · Ideation · Brief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7" y="56692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lang="en-GB" spc="140" cap="all">
                <a:solidFill>
                  <a:srgbClr val="F4F3EE"/>
                </a:solidFill>
                <a:latin typeface="Consolas"/>
              </a:rPr>
              <a:t>[ Brahmadatta AI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078992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4600" b="0" i="0" lang="en-GB">
                <a:solidFill>
                  <a:srgbClr val="F4F3EE"/>
                </a:solidFill>
                <a:latin typeface="Georgia"/>
              </a:rPr>
              <a:t>Autonomous armor for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487168"/>
            <a:ext cx="79552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lang="en-GB">
                <a:solidFill>
                  <a:srgbClr val="9FA1C9"/>
                </a:solidFill>
                <a:latin typeface="Consolas"/>
              </a:rPr>
              <a:t>An </a:t>
            </a:r>
            <a:r>
              <a:rPr sz="1250" b="0" i="0" lang="en-GB">
                <a:solidFill>
                  <a:srgbClr val="F4F3EE"/>
                </a:solidFill>
                <a:latin typeface="Consolas"/>
              </a:rPr>
              <a:t>authorised, defensive Cyber-Reasoning System</a:t>
            </a:r>
            <a:r>
              <a:rPr sz="1250" b="0" i="0" lang="en-GB">
                <a:solidFill>
                  <a:srgbClr val="9FA1C9"/>
                </a:solidFill>
                <a:latin typeface="Consolas"/>
              </a:rPr>
              <a:t> for AI Kavach. Given a C/C++ repository you own, Brahmadatta finds a real memory-safety defect with its own fuzzing, drafts a patch with a </a:t>
            </a:r>
            <a:r>
              <a:rPr sz="1250" b="0" i="0" lang="en-GB">
                <a:solidFill>
                  <a:srgbClr val="F4F3EE"/>
                </a:solidFill>
                <a:latin typeface="Consolas"/>
              </a:rPr>
              <a:t>self-hosted</a:t>
            </a:r>
            <a:r>
              <a:rPr sz="1250" b="0" i="0" lang="en-GB">
                <a:solidFill>
                  <a:srgbClr val="9FA1C9"/>
                </a:solidFill>
                <a:latin typeface="Consolas"/>
              </a:rPr>
              <a:t> model, and lets deterministic tools — not the model — deliver the verdict.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78224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87952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78224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87952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59" y="4078224"/>
            <a:ext cx="32004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Problem 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F4F3EE"/>
                </a:solidFill>
                <a:latin typeface="Consolas"/>
              </a:rPr>
              <a:t>Scanners and “AI security” tools stop at the report. They hand a human a finding and a suggested patch.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F4F3EE"/>
                </a:solidFill>
                <a:latin typeface="Consolas"/>
              </a:rPr>
              <a:t>A suggested patch, </a:t>
            </a:r>
            <a:r>
              <a:rPr sz="969" b="0" i="0" lang="en-GB">
                <a:solidFill>
                  <a:srgbClr val="F4F3EE"/>
                </a:solidFill>
                <a:latin typeface="Consolas"/>
              </a:rPr>
              <a:t>accepted on model confidence</a:t>
            </a:r>
            <a:r>
              <a:rPr sz="969" b="0" i="0" lang="en-GB">
                <a:solidFill>
                  <a:srgbClr val="F4F3EE"/>
                </a:solidFill>
                <a:latin typeface="Consolas"/>
              </a:rPr>
              <a:t>, is exactly how a plausible-looking wrong fix ships to production.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62272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62272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82128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91856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62272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62272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82128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1856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26864" y="4078224"/>
            <a:ext cx="32004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Idea &amp; Motivation 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F4F3EE"/>
                </a:solidFill>
                <a:latin typeface="Consolas"/>
              </a:rPr>
              <a:t>Close the loop, and make the machine check its own work.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F4F3EE"/>
                </a:solidFill>
                <a:latin typeface="Consolas"/>
              </a:rPr>
              <a:t>Discover → minimise to a deterministic reproducer → patch with a local model → </a:t>
            </a:r>
            <a:r>
              <a:rPr sz="969" b="0" i="0" lang="en-GB">
                <a:solidFill>
                  <a:srgbClr val="F4F3EE"/>
                </a:solidFill>
                <a:latin typeface="Consolas"/>
              </a:rPr>
              <a:t>let the reproducer, the regression suite, static checks and renewed fuzzing decide.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9FA1C9"/>
                </a:solidFill>
                <a:latin typeface="Consolas"/>
              </a:rPr>
              <a:t>Nothing escalates on a guess.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66176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66176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86032" y="393192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95760" y="393192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66176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66176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86032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795760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0768" y="4078224"/>
            <a:ext cx="32004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Brahmadatta AI, in one line 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>
                <a:solidFill>
                  <a:srgbClr val="9FA1C9"/>
                </a:solidFill>
                <a:latin typeface="Consolas"/>
              </a:rPr>
              <a:t>authorize → ingest → baseline → analyze → correlate → stress-test → patch → verify → export evidence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9" b="0" i="0" lang="en-GB">
                <a:solidFill>
                  <a:srgbClr val="F4F3EE"/>
                </a:solidFill>
                <a:latin typeface="Consolas"/>
              </a:rPr>
              <a:t>One autonomous pipeline. Three evidence-gated tiers. One operator-visible </a:t>
            </a:r>
            <a:r>
              <a:rPr sz="969" b="0" i="0" lang="en-GB">
                <a:solidFill>
                  <a:srgbClr val="F4F3EE"/>
                </a:solidFill>
                <a:latin typeface="Consolas"/>
              </a:rPr>
              <a:t>Command Center</a:t>
            </a:r>
            <a:r>
              <a:rPr sz="969" b="0" i="0" lang="en-GB">
                <a:solidFill>
                  <a:srgbClr val="F4F3EE"/>
                </a:solidFill>
                <a:latin typeface="Consolas"/>
              </a:rPr>
              <a:t>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5742432"/>
            <a:ext cx="10874959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5888736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The Differentiator 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 lang="en-GB">
                <a:solidFill>
                  <a:srgbClr val="9FA1C9"/>
                </a:solidFill>
                <a:latin typeface="Consolas"/>
              </a:rPr>
              <a:t>The same pipeline visibly </a:t>
            </a:r>
            <a:r>
              <a:rPr sz="960" b="0" i="0" lang="en-GB">
                <a:solidFill>
                  <a:srgbClr val="FF6B66"/>
                </a:solidFill>
                <a:latin typeface="Consolas"/>
              </a:rPr>
              <a:t>rejects</a:t>
            </a:r>
            <a:r>
              <a:rPr sz="960" b="0" i="0" lang="en-GB">
                <a:solidFill>
                  <a:srgbClr val="9FA1C9"/>
                </a:solidFill>
                <a:latin typeface="Consolas"/>
              </a:rPr>
              <a:t> a patch that eliminates the crash but breaks the program's behaviour. Every competitor shows a patch that worked; we show our system refusing one that only looked like it did.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5888736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Defensive / Authorised-Use Boundary 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 lang="en-GB">
                <a:solidFill>
                  <a:srgbClr val="9FA1C9"/>
                </a:solidFill>
                <a:latin typeface="Consolas"/>
              </a:rPr>
              <a:t>Authorised repositories and isolated environments only. Written authorization record + server-verified snapshot hash. </a:t>
            </a:r>
            <a:r>
              <a:rPr sz="960" b="0" i="0" lang="en-GB">
                <a:solidFill>
                  <a:srgbClr val="F4F3EE"/>
                </a:solidFill>
                <a:latin typeface="Consolas"/>
              </a:rPr>
              <a:t>No public-target scanning, no exploit deployment, no automatic production merge.</a:t>
            </a:r>
            <a:r>
              <a:rPr sz="960" b="0" i="0" lang="en-GB">
                <a:solidFill>
                  <a:srgbClr val="9FA1C9"/>
                </a:solidFill>
                <a:latin typeface="Consolas"/>
              </a:rPr>
              <a:t> Sandbox runs --network none; repository content never leaves for a hosted inference API.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11569903" cy="62362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8503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8503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34495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34495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0799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6692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0" lang="en-GB" spc="140" cap="all">
                <a:solidFill>
                  <a:srgbClr val="9FA1C9"/>
                </a:solidFill>
                <a:latin typeface="Consolas"/>
              </a:rPr>
              <a:t>[ Slide 02 / 05 ]   Detailed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7" y="56692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lang="en-GB" spc="140" cap="all">
                <a:solidFill>
                  <a:srgbClr val="F4F3EE"/>
                </a:solidFill>
                <a:latin typeface="Consolas"/>
              </a:rPr>
              <a:t>[ The Mission — Nine Steps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0058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4000" b="0" i="0" lang="en-GB">
                <a:solidFill>
                  <a:srgbClr val="F4F3EE"/>
                </a:solidFill>
                <a:latin typeface="Georgia"/>
              </a:rPr>
              <a:t>One pipeline. </a:t>
            </a:r>
            <a:r>
              <a:rPr sz="4000" b="0" i="0" lang="en-GB">
                <a:solidFill>
                  <a:srgbClr val="9FA1C9"/>
                </a:solidFill>
                <a:latin typeface="Georgia"/>
              </a:rPr>
              <a:t>Unattended after a single </a:t>
            </a:r>
            <a:r>
              <a:rPr sz="4000" b="0" i="0" lang="en-GB">
                <a:solidFill>
                  <a:srgbClr val="9FA1C9"/>
                </a:solidFill>
                <a:latin typeface="Georgia"/>
              </a:rPr>
              <a:t>[ START ].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84831"/>
            <a:ext cx="10874959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8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78224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87952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78224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87952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59" y="2432304"/>
            <a:ext cx="320040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Tier 1 · Deterministic Triage — CPU only, no model 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01 Authorize + snapshot.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Immutable snapshot; sha256 recomputed server-side and matched.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02 Baseline.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configure → build → CTest on the pristine tree. Pass/fail counts recorded — the denominator every later verdict is checked against.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03 Analyze.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Semgrep (offline vendored C/C++ ruleset) + compiler warnings parsed into structured findings; git-history summary.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62272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62272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82128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91856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62272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62272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82128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1856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26864" y="2432304"/>
            <a:ext cx="320040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Tier 2 · Destructive Sandbox + Lightweight Patch 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04 Stress-test.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ASan/UBSan build + libFuzzer campaign inside a locked-down container. Sanitizer-confirmed heap-buffer-overflow with a stack trace; crashes deduplicated.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05 Correlate + minimise.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Bind the crash to a source location; minimise the input to a reproducer that replays 5/5 from a clean build; persist it durably.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06 Patch.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A self-hosted CodeLlama 7B model gets the crash report + localised source. Patch policy (single file, allowlist, changed-line cap) must pass before the candidate is compiled.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66176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66176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86032" y="2286000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95760" y="2286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66176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66176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86032" y="468172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795760" y="4572000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0768" y="2432304"/>
            <a:ext cx="320040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Verification &amp; Proof-of-Fix Loop 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07 Verify — every policy-passing candidate, identical gate sequence.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The verifier is provenance-blind: it cannot see the model, its confidence, or its rationale.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08 Proof-of-fix.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The verdict is derived from the gate matrix, never from confidence.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19" b="0" i="0" lang="en-GB">
                <a:solidFill>
                  <a:srgbClr val="F4F3EE"/>
                </a:solidFill>
                <a:latin typeface="Consolas"/>
              </a:rPr>
              <a:t>09 Export + teardown.</a:t>
            </a:r>
            <a:r>
              <a:rPr sz="919" b="0" i="0" lang="en-GB">
                <a:solidFill>
                  <a:srgbClr val="9FA1C9"/>
                </a:solidFill>
                <a:latin typeface="Consolas"/>
              </a:rPr>
              <a:t> report.md / .json, gate matrix, content-addressed artifacts, sha256 manifest. Sandbox + model-host release confirmed, zero strays.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4901184"/>
            <a:ext cx="10874959" cy="0"/>
          </a:xfrm>
          <a:prstGeom prst="line">
            <a:avLst/>
          </a:prstGeom>
          <a:ln w="2032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5065776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Step 08 · Two candidates, one gate matrix, one run ]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en-GB">
                <a:solidFill>
                  <a:srgbClr val="39E08A"/>
                </a:solidFill>
                <a:latin typeface="Consolas"/>
              </a:rPr>
              <a:t>+  </a:t>
            </a:r>
            <a:r>
              <a:rPr sz="950" b="0" i="0" lang="en-GB">
                <a:solidFill>
                  <a:srgbClr val="F4F3EE"/>
                </a:solidFill>
                <a:latin typeface="Consolas"/>
              </a:rPr>
              <a:t>COMPILE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 cmake · exit 0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en-GB">
                <a:solidFill>
                  <a:srgbClr val="39E08A"/>
                </a:solidFill>
                <a:latin typeface="Consolas"/>
              </a:rPr>
              <a:t>+  </a:t>
            </a:r>
            <a:r>
              <a:rPr sz="950" b="0" i="0" lang="en-GB">
                <a:solidFill>
                  <a:srgbClr val="F4F3EE"/>
                </a:solidFill>
                <a:latin typeface="Consolas"/>
              </a:rPr>
              <a:t>REPRODUCER_ELIMINATED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 replay clean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en-GB">
                <a:solidFill>
                  <a:srgbClr val="39E08A"/>
                </a:solidFill>
                <a:latin typeface="Consolas"/>
              </a:rPr>
              <a:t>+  </a:t>
            </a:r>
            <a:r>
              <a:rPr sz="950" b="0" i="0" lang="en-GB">
                <a:solidFill>
                  <a:srgbClr val="F4F3EE"/>
                </a:solidFill>
                <a:latin typeface="Consolas"/>
              </a:rPr>
              <a:t>REGRESSION_PRESERVED  (patch A)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 8/8 ctest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en-GB">
                <a:solidFill>
                  <a:srgbClr val="FF6B66"/>
                </a:solidFill>
                <a:latin typeface="Consolas"/>
              </a:rPr>
              <a:t>×  </a:t>
            </a:r>
            <a:r>
              <a:rPr sz="950" b="0" i="0" lang="en-GB">
                <a:solidFill>
                  <a:srgbClr val="F4F3EE"/>
                </a:solidFill>
                <a:latin typeface="Consolas"/>
              </a:rPr>
              <a:t>REGRESSION_PRESERVED  (patch B)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 1 of 8 failed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en-GB">
                <a:solidFill>
                  <a:srgbClr val="FFB020"/>
                </a:solidFill>
                <a:latin typeface="Consolas"/>
              </a:rPr>
              <a:t>—  </a:t>
            </a:r>
            <a:r>
              <a:rPr sz="950" b="0" i="0" lang="en-GB">
                <a:solidFill>
                  <a:srgbClr val="F4F3EE"/>
                </a:solidFill>
                <a:latin typeface="Consolas"/>
              </a:rPr>
              <a:t>STATIC_DELTA · RENEWED_FUZZING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 disclosed, with reason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065776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What the loop catches ]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 lang="en-GB">
                <a:solidFill>
                  <a:srgbClr val="9FA1C9"/>
                </a:solidFill>
                <a:latin typeface="Consolas"/>
              </a:rPr>
              <a:t>Patch A — the correct fix — is </a:t>
            </a:r>
            <a:r>
              <a:rPr sz="940" b="0" i="0" lang="en-GB">
                <a:solidFill>
                  <a:srgbClr val="39E08A"/>
                </a:solidFill>
                <a:latin typeface="Consolas"/>
              </a:rPr>
              <a:t>VERIFIED</a:t>
            </a:r>
            <a:r>
              <a:rPr sz="940" b="0" i="0" lang="en-GB">
                <a:solidFill>
                  <a:srgbClr val="9FA1C9"/>
                </a:solidFill>
                <a:latin typeface="Consolas"/>
              </a:rPr>
              <a:t>. Patch B kills the crash by deleting the feature that was overflowing: it passes compile, eliminates the reproducer, then </a:t>
            </a:r>
            <a:r>
              <a:rPr sz="940" b="0" i="0" lang="en-GB">
                <a:solidFill>
                  <a:srgbClr val="FF6B66"/>
                </a:solidFill>
                <a:latin typeface="Consolas"/>
              </a:rPr>
              <a:t>fails a regression test</a:t>
            </a:r>
            <a:r>
              <a:rPr sz="940" b="0" i="0" lang="en-GB">
                <a:solidFill>
                  <a:srgbClr val="9FA1C9"/>
                </a:solidFill>
                <a:latin typeface="Consolas"/>
              </a:rPr>
              <a:t> (six assertions in the tab-expansion case) → </a:t>
            </a:r>
            <a:r>
              <a:rPr sz="940" b="0" i="0" lang="en-GB">
                <a:solidFill>
                  <a:srgbClr val="FF6B66"/>
                </a:solidFill>
                <a:latin typeface="Consolas"/>
              </a:rPr>
              <a:t>REJECTED</a:t>
            </a:r>
            <a:r>
              <a:rPr sz="940" b="0" i="0" lang="en-GB">
                <a:solidFill>
                  <a:srgbClr val="9FA1C9"/>
                </a:solidFill>
                <a:latin typeface="Consolas"/>
              </a:rPr>
              <a:t>, beside the accepted one. An overfit patch that fools every static gate is caught by </a:t>
            </a:r>
            <a:r>
              <a:rPr sz="940" b="0" i="0" lang="en-GB">
                <a:solidFill>
                  <a:srgbClr val="F4F3EE"/>
                </a:solidFill>
                <a:latin typeface="Consolas"/>
              </a:rPr>
              <a:t>renewed fuzzing</a:t>
            </a:r>
            <a:r>
              <a:rPr sz="940" b="0" i="0" lang="en-GB">
                <a:solidFill>
                  <a:srgbClr val="9FA1C9"/>
                </a:solidFill>
                <a:latin typeface="Consolas"/>
              </a:rPr>
              <a:t> of the patched build.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4190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 spc="60" cap="all">
                <a:solidFill>
                  <a:srgbClr val="9FA1C9"/>
                </a:solidFill>
                <a:latin typeface="Consolas"/>
              </a:rPr>
              <a:t>[ Nothing escalates a tier on a guess — work moves up only when the evidence in hand justifies the cost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11569903" cy="62362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8503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8503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34495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34495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0799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6692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0" lang="en-GB" spc="140" cap="all">
                <a:solidFill>
                  <a:srgbClr val="9FA1C9"/>
                </a:solidFill>
                <a:latin typeface="Consolas"/>
              </a:rPr>
              <a:t>[ Slide 03 / 05 ]   Technology Stack · Architecture ·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7" y="56692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lang="en-GB" spc="140" cap="all">
                <a:solidFill>
                  <a:srgbClr val="F4F3EE"/>
                </a:solidFill>
                <a:latin typeface="Consolas"/>
              </a:rPr>
              <a:t>[ As Built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87552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3800" b="0" i="0" lang="en-GB">
                <a:solidFill>
                  <a:srgbClr val="F4F3EE"/>
                </a:solidFill>
                <a:latin typeface="Georgia"/>
              </a:rPr>
              <a:t>Four processes. </a:t>
            </a:r>
            <a:r>
              <a:rPr sz="3800" b="0" i="0" lang="en-GB">
                <a:solidFill>
                  <a:srgbClr val="9FA1C9"/>
                </a:solidFill>
                <a:latin typeface="Georgia"/>
              </a:rPr>
              <a:t>No broker. No hosted API.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11680"/>
            <a:ext cx="10874959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" y="2212848"/>
            <a:ext cx="2743200" cy="56692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295144"/>
            <a:ext cx="252374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operator browser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1440×900+ · Command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081528"/>
            <a:ext cx="2743200" cy="7498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63824"/>
            <a:ext cx="2523744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nginx :443 / :8080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TLS · serves Astro build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proxy_buffering off on /events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9967" y="2779776"/>
            <a:ext cx="0" cy="301752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8368" y="4087368"/>
            <a:ext cx="3977639" cy="969264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375818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control-api — Django 5.2 · django-ninja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uvicorn ASGI · generated OpenAPI contract in CI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SSE fan-out · validates operator commands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READS everything · RUNS nothing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29967" y="3831335"/>
            <a:ext cx="0" cy="256033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5276088"/>
            <a:ext cx="3977639" cy="65836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358383"/>
            <a:ext cx="375818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PostgreSQL 16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missions · events · jobs ·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78608" y="5056631"/>
            <a:ext cx="0" cy="219457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8368" y="6163056"/>
            <a:ext cx="4937760" cy="102412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6245352"/>
            <a:ext cx="4718304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orchestrator — run_orchestrator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sole writer of Mission.state · 18-state machine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tick loop: transition · enqueue · reap · watchdog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queue = Postgres SELECT … FOR UPDATE SKIP LOCKED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64208" y="5934456"/>
            <a:ext cx="0" cy="228600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127248" y="5934456"/>
            <a:ext cx="0" cy="228600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916168" y="4087368"/>
            <a:ext cx="4206240" cy="84124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4169663"/>
            <a:ext cx="398678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worker — JobKind dispatch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BASELINE · ANALYZE · SANITIZER_BUILD · FUZZ · MINIMIZE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CORRELATE · PATCH_GENERATE · VERIFY · EXPORT · TEARDOWN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16168" y="5138928"/>
            <a:ext cx="4206240" cy="1170432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25896" y="5221224"/>
            <a:ext cx="39867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sandbox — packages/sandbox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subprocess Jail  +  ContainerJail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--network none · --cap-drop ALL · non-root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read-only rootfs · no docker socket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CMake/CTest · ASan/UBSan · libFuzzer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6492240"/>
            <a:ext cx="4206240" cy="786384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25896" y="6574536"/>
            <a:ext cx="398678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model-host — CodeLlama 7B (Ollama)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loopback / internal-only · bearer-token sidecar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gateway = the only inference client in the tree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596128" y="6675120"/>
            <a:ext cx="320040" cy="0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96128" y="6675120"/>
            <a:ext cx="320040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96128" y="4928616"/>
            <a:ext cx="0" cy="1746504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19288" y="4928616"/>
            <a:ext cx="0" cy="210312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19288" y="6309360"/>
            <a:ext cx="0" cy="182880"/>
          </a:xfrm>
          <a:prstGeom prst="line">
            <a:avLst/>
          </a:prstGeom>
          <a:ln w="9525">
            <a:solidFill>
              <a:srgbClr val="727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8368" y="7388352"/>
            <a:ext cx="4937760" cy="56692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7470648"/>
            <a:ext cx="47183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 lang="en-GB">
                <a:solidFill>
                  <a:srgbClr val="F4F3EE"/>
                </a:solidFill>
                <a:latin typeface="Consolas"/>
              </a:rPr>
              <a:t>content-addressed artifact store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0" i="0" lang="en-GB">
                <a:solidFill>
                  <a:srgbClr val="9FA1C9"/>
                </a:solidFill>
                <a:latin typeface="Consolas"/>
              </a:rPr>
              <a:t>sha256 · mode 0600 · encrypted volume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6168" y="2194560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40" b="0" i="0" lang="en-GB">
                <a:solidFill>
                  <a:srgbClr val="9FA1C9"/>
                </a:solidFill>
                <a:latin typeface="Consolas"/>
              </a:rPr>
              <a:t>internal: true — no route to the internet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69864" y="3950208"/>
            <a:ext cx="0" cy="3657600"/>
          </a:xfrm>
          <a:prstGeom prst="line">
            <a:avLst/>
          </a:prstGeom>
          <a:ln w="9525">
            <a:solidFill>
              <a:srgbClr val="4A50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305288" y="221284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29800" y="2212848"/>
            <a:ext cx="22402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Stack — implemented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Astro 7 + React islands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Django · django-ninja · Pydantic 2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PostgreSQL 16 · ORM + migrations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18-state machine · DB queue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Semgrep · compiler warnings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libFuzzer · ASan/UBSan · dedup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rootless Docker · Jail + ContainerJail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self-hosted CodeLlama 7B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39E08A"/>
                </a:solidFill>
                <a:latin typeface="Consolas"/>
              </a:rPr>
              <a:t>+ </a:t>
            </a:r>
            <a:r>
              <a:rPr sz="760" b="0" i="0" lang="en-GB">
                <a:solidFill>
                  <a:srgbClr val="F4F3EE"/>
                </a:solidFill>
                <a:latin typeface="Consolas"/>
              </a:rPr>
              <a:t>5-gate matrix · no confidence arg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Finale / roadmap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FFB020"/>
                </a:solidFill>
                <a:latin typeface="Consolas"/>
              </a:rPr>
              <a:t>› </a:t>
            </a:r>
            <a:r>
              <a:rPr sz="760" b="0" i="0" lang="en-GB">
                <a:solidFill>
                  <a:srgbClr val="9FA1C9"/>
                </a:solidFill>
                <a:latin typeface="Consolas"/>
              </a:rPr>
              <a:t>Live-model patch in the full run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FFB020"/>
                </a:solidFill>
                <a:latin typeface="Consolas"/>
              </a:rPr>
              <a:t>› </a:t>
            </a:r>
            <a:r>
              <a:rPr sz="760" b="0" i="0" lang="en-GB">
                <a:solidFill>
                  <a:srgbClr val="9FA1C9"/>
                </a:solidFill>
                <a:latin typeface="Consolas"/>
              </a:rPr>
              <a:t>Semgrep + renewed-fuzz in a live mission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FFB020"/>
                </a:solidFill>
                <a:latin typeface="Consolas"/>
              </a:rPr>
              <a:t>› </a:t>
            </a:r>
            <a:r>
              <a:rPr sz="760" b="0" i="0" lang="en-GB">
                <a:solidFill>
                  <a:srgbClr val="9FA1C9"/>
                </a:solidFill>
                <a:latin typeface="Consolas"/>
              </a:rPr>
              <a:t>ContainerJail default everywhere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760" b="0" i="0" lang="en-GB">
                <a:solidFill>
                  <a:srgbClr val="FFB020"/>
                </a:solidFill>
                <a:latin typeface="Consolas"/>
              </a:rPr>
              <a:t>› </a:t>
            </a:r>
            <a:r>
              <a:rPr sz="760" b="0" i="0" lang="en-GB">
                <a:solidFill>
                  <a:srgbClr val="9FA1C9"/>
                </a:solidFill>
                <a:latin typeface="Consolas"/>
              </a:rPr>
              <a:t>Tier 3 — designed path only · unnamed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3737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 lang="en-GB">
                <a:solidFill>
                  <a:srgbClr val="9FA1C9"/>
                </a:solidFill>
                <a:latin typeface="Consolas"/>
              </a:rPr>
              <a:t>Fifteen deployable units in the original design collapse to four application processes. The worker is the only thing that holds repository content and the only caller of the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11569903" cy="62362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8503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8503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34495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34495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0799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6692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0" lang="en-GB" spc="140" cap="all">
                <a:solidFill>
                  <a:srgbClr val="9FA1C9"/>
                </a:solidFill>
                <a:latin typeface="Consolas"/>
              </a:rPr>
              <a:t>[ Slide 04 / 05 ]   Salient Features &amp; Novelty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7" y="56692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lang="en-GB" spc="140" cap="all">
                <a:solidFill>
                  <a:srgbClr val="F4F3EE"/>
                </a:solidFill>
                <a:latin typeface="Consolas"/>
              </a:rPr>
              <a:t>[ Resource Utilisation · Novelty · Lightweight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6012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3000" b="0" i="0" lang="en-GB">
                <a:solidFill>
                  <a:srgbClr val="F4F3EE"/>
                </a:solidFill>
                <a:latin typeface="Georgia"/>
              </a:rPr>
              <a:t>The system rejects its own patch — </a:t>
            </a:r>
            <a:r>
              <a:rPr sz="3000" b="0" i="0" lang="en-GB">
                <a:solidFill>
                  <a:srgbClr val="9FA1C9"/>
                </a:solidFill>
                <a:latin typeface="Georgia"/>
              </a:rPr>
              <a:t>and the rejection is a real regression-test failure, not a scripted demo beat.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286000"/>
            <a:ext cx="10874959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8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78224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87952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78224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87952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59" y="2633472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Novelty — verification that overrules the model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Evidence-gated escalation.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Nothing reaches the model until deterministic tiers produce a confirmed, minimised finding.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No confidence path.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derive_verdict() takes one argument — the gate matrix. A VERIFIED record over a failing gate cannot be constructed.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Provenance-blind verifier.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The operator-supplied “bad” candidate takes a genuinely identical path.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Overfit caught by renewed fuzzing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of the patched build — not by a human already knowing which input to try.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Disclosure as a feature.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A gate that did not run is as loud as a failure; the verdict carries its denominator.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62272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62272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82128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91856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62272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62272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82128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1856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26864" y="2633472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Posture — self-hosted · authorised · isolated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Repository content never reaches a hosted API.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Enforced three ways: internal-only compose network, a single-inference-client source test, a boot-time system check that refuses a hosted endpoint.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Rootless isolated execution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— --network none, all capabilities dropped, non-root, read-only rootfs. Egress denial proven by a live DNS+TCP test.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Authorised repositories only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— write-once authorization record, server-verified snapshot hash. No public scanning, no exploit deployment, no auto-merge.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Operator-visible Command Center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— every panel reads the same stream that produces the evidence bundle.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66176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66176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86032" y="248716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95760" y="2487168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66176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66176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86032" y="5504688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795760" y="5394959"/>
            <a:ext cx="0" cy="109729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30768" y="2633472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Resource utilisation &amp; lightweight design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CPU-first.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Rented GPU cut entirely. A local 7B model with a process-level lease and confirmed teardown.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4 application processes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vs 15 in the original design. Postgres SKIP LOCKED instead of a message broker. No Redis, no S3, offline Semgrep ruleset.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Runs on one machine, offline.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 Orchestrator / worker / gateway / evidence are modules in one Django project.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4773168"/>
            <a:ext cx="3200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0" i="0" lang="en-GB">
                <a:solidFill>
                  <a:srgbClr val="F4F3EE"/>
                </a:solidFill>
                <a:latin typeface="Georgia"/>
              </a:rPr>
              <a:t>~48s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full pipeline   </a:t>
            </a:r>
            <a:r>
              <a:rPr sz="2200" b="0" i="0" lang="en-GB">
                <a:solidFill>
                  <a:srgbClr val="F4F3EE"/>
                </a:solidFill>
                <a:latin typeface="Georgia"/>
              </a:rPr>
              <a:t>0.3s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  fuzz to seeded defect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5742432"/>
            <a:ext cx="10874959" cy="0"/>
          </a:xfrm>
          <a:prstGeom prst="line">
            <a:avLst/>
          </a:prstGeom>
          <a:ln w="2032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588873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 spc="60" cap="all">
                <a:solidFill>
                  <a:srgbClr val="9FA1C9"/>
                </a:solidFill>
                <a:latin typeface="Consolas"/>
              </a:rPr>
              <a:t>[ Not another “LLM + scanner” wrapper — a verification layer that is demonstrated overruling the model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11569903" cy="6236208"/>
          </a:xfrm>
          <a:prstGeom prst="rect">
            <a:avLst/>
          </a:prstGeom>
          <a:noFill/>
          <a:ln w="9525">
            <a:solidFill>
              <a:srgbClr val="727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98503" y="228600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98503" y="6464808"/>
            <a:ext cx="164592" cy="164592"/>
          </a:xfrm>
          <a:prstGeom prst="rect">
            <a:avLst/>
          </a:prstGeom>
          <a:solidFill>
            <a:srgbClr val="141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10896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34495" y="310896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0799" y="310896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34495" y="6547104"/>
            <a:ext cx="146304" cy="0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0799" y="6400800"/>
            <a:ext cx="0" cy="146304"/>
          </a:xfrm>
          <a:prstGeom prst="line">
            <a:avLst/>
          </a:prstGeom>
          <a:ln w="1270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6692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50" b="0" i="0" lang="en-GB" spc="140" cap="all">
                <a:solidFill>
                  <a:srgbClr val="9FA1C9"/>
                </a:solidFill>
                <a:latin typeface="Consolas"/>
              </a:rPr>
              <a:t>[ Slide 05 / 05 ]   Final 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447" y="56692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lang="en-GB" spc="140" cap="all">
                <a:solidFill>
                  <a:srgbClr val="F4F3EE"/>
                </a:solidFill>
                <a:latin typeface="Consolas"/>
              </a:rPr>
              <a:t>[ Evidence Run 6 · 2026-08-20 ]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87552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4000" b="0" i="0" lang="en-GB">
                <a:solidFill>
                  <a:srgbClr val="F4F3EE"/>
                </a:solidFill>
                <a:latin typeface="Georgia"/>
              </a:rPr>
              <a:t>Demonstrated today. </a:t>
            </a:r>
            <a:r>
              <a:rPr sz="4000" b="0" i="0" lang="en-GB">
                <a:solidFill>
                  <a:srgbClr val="9FA1C9"/>
                </a:solidFill>
                <a:latin typeface="Georgia"/>
              </a:rPr>
              <a:t>Sharpened at the finale.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048256"/>
            <a:ext cx="10874959" cy="0"/>
          </a:xfrm>
          <a:prstGeom prst="line">
            <a:avLst/>
          </a:prstGeom>
          <a:ln w="9525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8" y="2249424"/>
            <a:ext cx="109728" cy="0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249424"/>
            <a:ext cx="0" cy="109728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17920" y="2249424"/>
            <a:ext cx="109728" cy="0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27648" y="2249424"/>
            <a:ext cx="0" cy="109728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5632704"/>
            <a:ext cx="109728" cy="0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5522976"/>
            <a:ext cx="0" cy="109728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17920" y="5632704"/>
            <a:ext cx="109728" cy="0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27648" y="5522976"/>
            <a:ext cx="0" cy="109728"/>
          </a:xfrm>
          <a:prstGeom prst="line">
            <a:avLst/>
          </a:prstGeom>
          <a:ln w="11430">
            <a:solidFill>
              <a:srgbClr val="39E0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2414016"/>
            <a:ext cx="5349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What the prototype demonstrably does — live, unattended, real HTTP API ]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Full nine-step pipeline end-to-end in </a:t>
            </a:r>
            <a:r>
              <a:rPr sz="900" b="0" i="0" lang="en-GB">
                <a:solidFill>
                  <a:srgbClr val="F4F3EE"/>
                </a:solidFill>
                <a:latin typeface="Consolas"/>
              </a:rPr>
              <a:t>47.75 s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wall-clock.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A self-discovered, ASan-confirmed heap-buffer-overflow in an authorised C target, with a durable, deterministic reproducer.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F4F3EE"/>
                </a:solidFill>
                <a:latin typeface="Consolas"/>
              </a:rPr>
              <a:t>Two verdicts from one mission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— one patch → </a:t>
            </a:r>
            <a:r>
              <a:rPr sz="900" b="0" i="0" lang="en-GB">
                <a:solidFill>
                  <a:srgbClr val="39E08A"/>
                </a:solidFill>
                <a:latin typeface="Consolas"/>
              </a:rPr>
              <a:t>VERIFIED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(first end-to-end in project history); one plausible crash-only patch → </a:t>
            </a:r>
            <a:r>
              <a:rPr sz="900" b="0" i="0" lang="en-GB">
                <a:solidFill>
                  <a:srgbClr val="FF6B66"/>
                </a:solidFill>
                <a:latin typeface="Consolas"/>
              </a:rPr>
              <a:t>REJECTED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on a real regression failure, same gate matrix.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F4F3EE"/>
                </a:solidFill>
                <a:latin typeface="Consolas"/>
              </a:rPr>
              <a:t>An exported evidence bundle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— snapshot hash, crash report, minimised input, both diffs, both gate matrices, both verdicts — sha256-manifested and independently read back by someone who did not build the system.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Confirmed teardown, zero stray containers.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Self-hosted CodeLlama 7B: </a:t>
            </a:r>
            <a:r>
              <a:rPr sz="900" b="0" i="0" lang="en-GB">
                <a:solidFill>
                  <a:srgbClr val="F4F3EE"/>
                </a:solidFill>
                <a:latin typeface="Consolas"/>
              </a:rPr>
              <a:t>10 / 10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 generation attempts returned schema- and policy-valid candidates.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900" b="0" i="0" lang="en-GB">
                <a:solidFill>
                  <a:srgbClr val="9FA1C9"/>
                </a:solidFill>
                <a:latin typeface="Consolas"/>
              </a:rPr>
              <a:t>Command Center rebuilt to the approved spec; ≈900+ automated tests; CI on a real PostgreSQL; egress denial proven live.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2249424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0" y="2249424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11712" y="2249424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521440" y="2249424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680" y="3483864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83680" y="3374136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11712" y="3483864"/>
            <a:ext cx="109728" cy="0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21440" y="3374136"/>
            <a:ext cx="0" cy="109728"/>
          </a:xfrm>
          <a:prstGeom prst="line">
            <a:avLst/>
          </a:prstGeom>
          <a:ln w="11430">
            <a:solidFill>
              <a:srgbClr val="7276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560" y="2395728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Expected competition output ]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 lang="en-GB">
                <a:solidFill>
                  <a:srgbClr val="9FA1C9"/>
                </a:solidFill>
                <a:latin typeface="Consolas"/>
              </a:rPr>
              <a:t>A reproducible C/C++ pipeline that, on an authorised repository, produces a confirmed finding, a minimal patch, a deterministic verdict, and a </a:t>
            </a:r>
            <a:r>
              <a:rPr sz="860" b="0" i="0" lang="en-GB">
                <a:solidFill>
                  <a:srgbClr val="F4F3EE"/>
                </a:solidFill>
                <a:latin typeface="Consolas"/>
              </a:rPr>
              <a:t>portable evidence bundle a judge can audit offline</a:t>
            </a:r>
            <a:r>
              <a:rPr sz="860" b="0" i="0" lang="en-GB">
                <a:solidFill>
                  <a:srgbClr val="9FA1C9"/>
                </a:solidFill>
                <a:latin typeface="Consolas"/>
              </a:rPr>
              <a:t>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3639312"/>
            <a:ext cx="109728" cy="0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83680" y="3639312"/>
            <a:ext cx="0" cy="109727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411712" y="3639312"/>
            <a:ext cx="109728" cy="0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521440" y="3639312"/>
            <a:ext cx="0" cy="109727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583680" y="5632704"/>
            <a:ext cx="109728" cy="0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83680" y="5522976"/>
            <a:ext cx="0" cy="109728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411712" y="5632704"/>
            <a:ext cx="109728" cy="0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521440" y="5522976"/>
            <a:ext cx="0" cy="109728"/>
          </a:xfrm>
          <a:prstGeom prst="line">
            <a:avLst/>
          </a:prstGeom>
          <a:ln w="1143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66560" y="3785615"/>
            <a:ext cx="46177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lang="en-GB" spc="120" cap="all">
                <a:solidFill>
                  <a:srgbClr val="9FA1C9"/>
                </a:solidFill>
                <a:latin typeface="Consolas"/>
              </a:rPr>
              <a:t>[ Refined during the 36-hour Grand Finale 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Live-model patch generation inside the full unattended run (finale hardware clears the dev-VM memory ceiling).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Semgrep + renewed-fuzzing gates exercised inside a full live mission.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ContainerJail as the default isolation for every stage, every deployment.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Three timed rehearsals with failure injection: GPU-unavailable, target won't build, stage hangs.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A real open-source C target with a known historical CVE, alongside the purpose-built one.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lang="en-GB">
                <a:solidFill>
                  <a:srgbClr val="7276B5"/>
                </a:solidFill>
                <a:latin typeface="Consolas"/>
              </a:rPr>
              <a:t>·  </a:t>
            </a:r>
            <a:r>
              <a:rPr sz="800" b="0" i="0" lang="en-GB">
                <a:solidFill>
                  <a:srgbClr val="9FA1C9"/>
                </a:solidFill>
                <a:latin typeface="Consolas"/>
              </a:rPr>
              <a:t>Human-recorded fallback demonstration.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5797296"/>
            <a:ext cx="10874959" cy="0"/>
          </a:xfrm>
          <a:prstGeom prst="line">
            <a:avLst/>
          </a:prstGeom>
          <a:ln w="20320">
            <a:solidFill>
              <a:srgbClr val="F4F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59436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 lang="en-GB">
                <a:solidFill>
                  <a:srgbClr val="39E08A"/>
                </a:solidFill>
                <a:latin typeface="Consolas"/>
              </a:rPr>
              <a:t>PERFORMANCE </a:t>
            </a:r>
            <a:r>
              <a:rPr sz="880" b="0" i="0" lang="en-GB">
                <a:solidFill>
                  <a:srgbClr val="9FA1C9"/>
                </a:solidFill>
                <a:latin typeface="Consolas"/>
              </a:rPr>
              <a:t>~48 s pipeline    </a:t>
            </a:r>
            <a:r>
              <a:rPr sz="880" b="0" i="0" lang="en-GB">
                <a:solidFill>
                  <a:srgbClr val="39E08A"/>
                </a:solidFill>
                <a:latin typeface="Consolas"/>
              </a:rPr>
              <a:t>SPEED </a:t>
            </a:r>
            <a:r>
              <a:rPr sz="880" b="0" i="0" lang="en-GB">
                <a:solidFill>
                  <a:srgbClr val="9FA1C9"/>
                </a:solidFill>
                <a:latin typeface="Consolas"/>
              </a:rPr>
              <a:t>sub-second reproducer replay    </a:t>
            </a:r>
            <a:r>
              <a:rPr sz="880" b="0" i="0" lang="en-GB">
                <a:solidFill>
                  <a:srgbClr val="39E08A"/>
                </a:solidFill>
                <a:latin typeface="Consolas"/>
              </a:rPr>
              <a:t>PRECISION </a:t>
            </a:r>
            <a:r>
              <a:rPr sz="880" b="0" i="0" lang="en-GB">
                <a:solidFill>
                  <a:srgbClr val="9FA1C9"/>
                </a:solidFill>
                <a:latin typeface="Consolas"/>
              </a:rPr>
              <a:t>deterministic gates + demonstrated rejection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 lang="en-GB">
                <a:solidFill>
                  <a:srgbClr val="39E08A"/>
                </a:solidFill>
                <a:latin typeface="Consolas"/>
              </a:rPr>
              <a:t>FUNCTIONALITY </a:t>
            </a:r>
            <a:r>
              <a:rPr sz="880" b="0" i="0" lang="en-GB">
                <a:solidFill>
                  <a:srgbClr val="9FA1C9"/>
                </a:solidFill>
                <a:latin typeface="Consolas"/>
              </a:rPr>
              <a:t>nine-step loop + live Command Center    </a:t>
            </a:r>
            <a:r>
              <a:rPr sz="880" b="0" i="0" lang="en-GB">
                <a:solidFill>
                  <a:srgbClr val="39E08A"/>
                </a:solidFill>
                <a:latin typeface="Consolas"/>
              </a:rPr>
              <a:t>SCALABILITY </a:t>
            </a:r>
            <a:r>
              <a:rPr sz="880" b="0" i="0" lang="en-GB">
                <a:solidFill>
                  <a:srgbClr val="9FA1C9"/>
                </a:solidFill>
                <a:latin typeface="Consolas"/>
              </a:rPr>
              <a:t>stateless processes · SKIP LOCKED queue · adapter generalised beyond the demo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